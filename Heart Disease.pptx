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59" r:id="rId5"/>
    <p:sldId id="270" r:id="rId6"/>
    <p:sldId id="261" r:id="rId7"/>
    <p:sldId id="262" r:id="rId8"/>
    <p:sldId id="266" r:id="rId9"/>
    <p:sldId id="272" r:id="rId10"/>
    <p:sldId id="273" r:id="rId11"/>
    <p:sldId id="263" r:id="rId12"/>
    <p:sldId id="264" r:id="rId13"/>
    <p:sldId id="274" r:id="rId14"/>
    <p:sldId id="265" r:id="rId15"/>
    <p:sldId id="271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F89EA2-8578-43F3-B3F8-3010354467F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0FC864-CA40-41C1-9D39-042D8FC400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 Classification Project using Python</a:t>
          </a:r>
        </a:p>
      </dgm:t>
    </dgm:pt>
    <dgm:pt modelId="{30F1D231-91CD-4131-B3BA-0357EDAFF493}" type="parTrans" cxnId="{BD7034DE-D0B0-4C56-B590-D84E8D316ED4}">
      <dgm:prSet/>
      <dgm:spPr/>
      <dgm:t>
        <a:bodyPr/>
        <a:lstStyle/>
        <a:p>
          <a:endParaRPr lang="en-US"/>
        </a:p>
      </dgm:t>
    </dgm:pt>
    <dgm:pt modelId="{4178FD8E-5352-4AB2-8D7E-CBEDF6A0E506}" type="sibTrans" cxnId="{BD7034DE-D0B0-4C56-B590-D84E8D316E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34A3CA-F244-4C1A-B294-0D3B8BDAF6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data to teach a computer to make predictions</a:t>
          </a:r>
        </a:p>
      </dgm:t>
    </dgm:pt>
    <dgm:pt modelId="{A975DF27-C272-4FB4-994C-700C15E62816}" type="parTrans" cxnId="{B8D39FFE-6F85-4440-A6E0-A8FECE19D515}">
      <dgm:prSet/>
      <dgm:spPr/>
      <dgm:t>
        <a:bodyPr/>
        <a:lstStyle/>
        <a:p>
          <a:endParaRPr lang="en-US"/>
        </a:p>
      </dgm:t>
    </dgm:pt>
    <dgm:pt modelId="{283CE921-81F0-43B3-BE9A-3928F245282E}" type="sibTrans" cxnId="{B8D39FFE-6F85-4440-A6E0-A8FECE19D5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51EEFD-4CB9-4733-9377-5AE799CC6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Predicts heart disease in the specific dataset</a:t>
          </a:r>
        </a:p>
      </dgm:t>
    </dgm:pt>
    <dgm:pt modelId="{E1BEAC9C-DAC2-4495-B1B8-C223E456BF84}" type="parTrans" cxnId="{379DCC44-7660-4D2C-B555-4647E6EFD682}">
      <dgm:prSet/>
      <dgm:spPr/>
      <dgm:t>
        <a:bodyPr/>
        <a:lstStyle/>
        <a:p>
          <a:endParaRPr lang="en-US"/>
        </a:p>
      </dgm:t>
    </dgm:pt>
    <dgm:pt modelId="{280F8D25-C13F-4EE4-B787-280D99669A6B}" type="sibTrans" cxnId="{379DCC44-7660-4D2C-B555-4647E6EFD6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6279FF-3E94-452F-8B7B-0F0B5BBC70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doctors</a:t>
          </a:r>
        </a:p>
      </dgm:t>
    </dgm:pt>
    <dgm:pt modelId="{CB340B66-01CB-4773-B5A2-2780550E6365}" type="parTrans" cxnId="{7EEB18F7-3BA4-47F9-89F1-5ABB6BC039DC}">
      <dgm:prSet/>
      <dgm:spPr/>
      <dgm:t>
        <a:bodyPr/>
        <a:lstStyle/>
        <a:p>
          <a:endParaRPr lang="en-US"/>
        </a:p>
      </dgm:t>
    </dgm:pt>
    <dgm:pt modelId="{6A476659-A17D-44D8-8273-D009DB7E2E4A}" type="sibTrans" cxnId="{7EEB18F7-3BA4-47F9-89F1-5ABB6BC039DC}">
      <dgm:prSet/>
      <dgm:spPr/>
      <dgm:t>
        <a:bodyPr/>
        <a:lstStyle/>
        <a:p>
          <a:endParaRPr lang="en-US"/>
        </a:p>
      </dgm:t>
    </dgm:pt>
    <dgm:pt modelId="{16CBB799-4E16-466B-9F6B-39C25A440610}" type="pres">
      <dgm:prSet presAssocID="{E7F89EA2-8578-43F3-B3F8-3010354467F2}" presName="root" presStyleCnt="0">
        <dgm:presLayoutVars>
          <dgm:dir/>
          <dgm:resizeHandles val="exact"/>
        </dgm:presLayoutVars>
      </dgm:prSet>
      <dgm:spPr/>
    </dgm:pt>
    <dgm:pt modelId="{519994A3-E9FD-42C6-9E97-4F8091A27BA6}" type="pres">
      <dgm:prSet presAssocID="{E7F89EA2-8578-43F3-B3F8-3010354467F2}" presName="container" presStyleCnt="0">
        <dgm:presLayoutVars>
          <dgm:dir/>
          <dgm:resizeHandles val="exact"/>
        </dgm:presLayoutVars>
      </dgm:prSet>
      <dgm:spPr/>
    </dgm:pt>
    <dgm:pt modelId="{306F1FD2-35E2-4187-98A2-C08D2099161E}" type="pres">
      <dgm:prSet presAssocID="{EE0FC864-CA40-41C1-9D39-042D8FC400A0}" presName="compNode" presStyleCnt="0"/>
      <dgm:spPr/>
    </dgm:pt>
    <dgm:pt modelId="{269367FF-ACC6-43FF-930A-ABBD3012B6DD}" type="pres">
      <dgm:prSet presAssocID="{EE0FC864-CA40-41C1-9D39-042D8FC400A0}" presName="iconBgRect" presStyleLbl="bgShp" presStyleIdx="0" presStyleCnt="4"/>
      <dgm:spPr/>
    </dgm:pt>
    <dgm:pt modelId="{5207162A-4344-4352-8101-B1CED28485C8}" type="pres">
      <dgm:prSet presAssocID="{EE0FC864-CA40-41C1-9D39-042D8FC400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7A7040F-1E73-4DA6-AF47-A347F965C05F}" type="pres">
      <dgm:prSet presAssocID="{EE0FC864-CA40-41C1-9D39-042D8FC400A0}" presName="spaceRect" presStyleCnt="0"/>
      <dgm:spPr/>
    </dgm:pt>
    <dgm:pt modelId="{36A2068D-5D3B-42D9-9939-37043967D994}" type="pres">
      <dgm:prSet presAssocID="{EE0FC864-CA40-41C1-9D39-042D8FC400A0}" presName="textRect" presStyleLbl="revTx" presStyleIdx="0" presStyleCnt="4">
        <dgm:presLayoutVars>
          <dgm:chMax val="1"/>
          <dgm:chPref val="1"/>
        </dgm:presLayoutVars>
      </dgm:prSet>
      <dgm:spPr/>
    </dgm:pt>
    <dgm:pt modelId="{A19200CA-C240-4AD8-886A-9C9888DF4E04}" type="pres">
      <dgm:prSet presAssocID="{4178FD8E-5352-4AB2-8D7E-CBEDF6A0E506}" presName="sibTrans" presStyleLbl="sibTrans2D1" presStyleIdx="0" presStyleCnt="0"/>
      <dgm:spPr/>
    </dgm:pt>
    <dgm:pt modelId="{6788FC7A-18A1-4F82-93E5-051BC218F072}" type="pres">
      <dgm:prSet presAssocID="{C734A3CA-F244-4C1A-B294-0D3B8BDAF6CF}" presName="compNode" presStyleCnt="0"/>
      <dgm:spPr/>
    </dgm:pt>
    <dgm:pt modelId="{0B528070-8C98-4A13-926F-6A17E0E75852}" type="pres">
      <dgm:prSet presAssocID="{C734A3CA-F244-4C1A-B294-0D3B8BDAF6CF}" presName="iconBgRect" presStyleLbl="bgShp" presStyleIdx="1" presStyleCnt="4"/>
      <dgm:spPr/>
    </dgm:pt>
    <dgm:pt modelId="{59A7098D-FC3B-417E-AD71-25881EEB8167}" type="pres">
      <dgm:prSet presAssocID="{C734A3CA-F244-4C1A-B294-0D3B8BDAF6C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D7C8ECE-F1FA-4AB1-9FF4-811D86F5AB79}" type="pres">
      <dgm:prSet presAssocID="{C734A3CA-F244-4C1A-B294-0D3B8BDAF6CF}" presName="spaceRect" presStyleCnt="0"/>
      <dgm:spPr/>
    </dgm:pt>
    <dgm:pt modelId="{A8249F09-BC1C-4D30-B68A-9A0C5940DC0A}" type="pres">
      <dgm:prSet presAssocID="{C734A3CA-F244-4C1A-B294-0D3B8BDAF6CF}" presName="textRect" presStyleLbl="revTx" presStyleIdx="1" presStyleCnt="4">
        <dgm:presLayoutVars>
          <dgm:chMax val="1"/>
          <dgm:chPref val="1"/>
        </dgm:presLayoutVars>
      </dgm:prSet>
      <dgm:spPr/>
    </dgm:pt>
    <dgm:pt modelId="{A36F91C3-FF39-4802-A165-EE74EA0827CE}" type="pres">
      <dgm:prSet presAssocID="{283CE921-81F0-43B3-BE9A-3928F245282E}" presName="sibTrans" presStyleLbl="sibTrans2D1" presStyleIdx="0" presStyleCnt="0"/>
      <dgm:spPr/>
    </dgm:pt>
    <dgm:pt modelId="{3B1B8C2B-E374-4E55-AFB9-DE9FE647AFE1}" type="pres">
      <dgm:prSet presAssocID="{2951EEFD-4CB9-4733-9377-5AE799CC6530}" presName="compNode" presStyleCnt="0"/>
      <dgm:spPr/>
    </dgm:pt>
    <dgm:pt modelId="{91FB8A93-D8FA-4A6F-AABA-94CFFB26F944}" type="pres">
      <dgm:prSet presAssocID="{2951EEFD-4CB9-4733-9377-5AE799CC6530}" presName="iconBgRect" presStyleLbl="bgShp" presStyleIdx="2" presStyleCnt="4"/>
      <dgm:spPr/>
    </dgm:pt>
    <dgm:pt modelId="{DE3FAF24-0911-4E8F-86AE-34C9515619C2}" type="pres">
      <dgm:prSet presAssocID="{2951EEFD-4CB9-4733-9377-5AE799CC65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12B1E4D7-AF55-49F2-A3AE-91B2859F61DC}" type="pres">
      <dgm:prSet presAssocID="{2951EEFD-4CB9-4733-9377-5AE799CC6530}" presName="spaceRect" presStyleCnt="0"/>
      <dgm:spPr/>
    </dgm:pt>
    <dgm:pt modelId="{3C939EC8-DC39-4D46-83DE-AC5EBC3342D0}" type="pres">
      <dgm:prSet presAssocID="{2951EEFD-4CB9-4733-9377-5AE799CC6530}" presName="textRect" presStyleLbl="revTx" presStyleIdx="2" presStyleCnt="4">
        <dgm:presLayoutVars>
          <dgm:chMax val="1"/>
          <dgm:chPref val="1"/>
        </dgm:presLayoutVars>
      </dgm:prSet>
      <dgm:spPr/>
    </dgm:pt>
    <dgm:pt modelId="{E0ACBB8E-3E51-474D-A8F4-A04941DD5DB3}" type="pres">
      <dgm:prSet presAssocID="{280F8D25-C13F-4EE4-B787-280D99669A6B}" presName="sibTrans" presStyleLbl="sibTrans2D1" presStyleIdx="0" presStyleCnt="0"/>
      <dgm:spPr/>
    </dgm:pt>
    <dgm:pt modelId="{B59EB134-58E2-47D8-AB87-B59A850E02AB}" type="pres">
      <dgm:prSet presAssocID="{BA6279FF-3E94-452F-8B7B-0F0B5BBC70AA}" presName="compNode" presStyleCnt="0"/>
      <dgm:spPr/>
    </dgm:pt>
    <dgm:pt modelId="{43D9917D-29BF-4639-A9AC-A27E600716AB}" type="pres">
      <dgm:prSet presAssocID="{BA6279FF-3E94-452F-8B7B-0F0B5BBC70AA}" presName="iconBgRect" presStyleLbl="bgShp" presStyleIdx="3" presStyleCnt="4"/>
      <dgm:spPr/>
    </dgm:pt>
    <dgm:pt modelId="{6CEA49E1-C94C-42E9-A1C6-4A026F1F7909}" type="pres">
      <dgm:prSet presAssocID="{BA6279FF-3E94-452F-8B7B-0F0B5BBC70A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D3D64FE-1BB5-4BDF-8F52-67326F71E275}" type="pres">
      <dgm:prSet presAssocID="{BA6279FF-3E94-452F-8B7B-0F0B5BBC70AA}" presName="spaceRect" presStyleCnt="0"/>
      <dgm:spPr/>
    </dgm:pt>
    <dgm:pt modelId="{0B0A5BEF-C2EC-4CD4-AFDC-A07689EF5CD3}" type="pres">
      <dgm:prSet presAssocID="{BA6279FF-3E94-452F-8B7B-0F0B5BBC70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0CA61C-AFAA-4F2C-81DF-E5F1095660B7}" type="presOf" srcId="{EE0FC864-CA40-41C1-9D39-042D8FC400A0}" destId="{36A2068D-5D3B-42D9-9939-37043967D994}" srcOrd="0" destOrd="0" presId="urn:microsoft.com/office/officeart/2018/2/layout/IconCircleList"/>
    <dgm:cxn modelId="{09E52320-4F0B-4888-A466-C9220A1AA652}" type="presOf" srcId="{2951EEFD-4CB9-4733-9377-5AE799CC6530}" destId="{3C939EC8-DC39-4D46-83DE-AC5EBC3342D0}" srcOrd="0" destOrd="0" presId="urn:microsoft.com/office/officeart/2018/2/layout/IconCircleList"/>
    <dgm:cxn modelId="{379DCC44-7660-4D2C-B555-4647E6EFD682}" srcId="{E7F89EA2-8578-43F3-B3F8-3010354467F2}" destId="{2951EEFD-4CB9-4733-9377-5AE799CC6530}" srcOrd="2" destOrd="0" parTransId="{E1BEAC9C-DAC2-4495-B1B8-C223E456BF84}" sibTransId="{280F8D25-C13F-4EE4-B787-280D99669A6B}"/>
    <dgm:cxn modelId="{C488E16B-A0C6-4DA8-80BA-8804CA002BE2}" type="presOf" srcId="{280F8D25-C13F-4EE4-B787-280D99669A6B}" destId="{E0ACBB8E-3E51-474D-A8F4-A04941DD5DB3}" srcOrd="0" destOrd="0" presId="urn:microsoft.com/office/officeart/2018/2/layout/IconCircleList"/>
    <dgm:cxn modelId="{3950DD78-F42F-44E6-8F8F-F0A2E34055CB}" type="presOf" srcId="{BA6279FF-3E94-452F-8B7B-0F0B5BBC70AA}" destId="{0B0A5BEF-C2EC-4CD4-AFDC-A07689EF5CD3}" srcOrd="0" destOrd="0" presId="urn:microsoft.com/office/officeart/2018/2/layout/IconCircleList"/>
    <dgm:cxn modelId="{2DDE949B-4149-4AF3-B95E-8A7020567D14}" type="presOf" srcId="{283CE921-81F0-43B3-BE9A-3928F245282E}" destId="{A36F91C3-FF39-4802-A165-EE74EA0827CE}" srcOrd="0" destOrd="0" presId="urn:microsoft.com/office/officeart/2018/2/layout/IconCircleList"/>
    <dgm:cxn modelId="{9BAEC3C3-1005-44AB-B8A3-74510026FD23}" type="presOf" srcId="{E7F89EA2-8578-43F3-B3F8-3010354467F2}" destId="{16CBB799-4E16-466B-9F6B-39C25A440610}" srcOrd="0" destOrd="0" presId="urn:microsoft.com/office/officeart/2018/2/layout/IconCircleList"/>
    <dgm:cxn modelId="{328EF2C4-C8CA-4DDD-BF1F-ADD832F007F6}" type="presOf" srcId="{C734A3CA-F244-4C1A-B294-0D3B8BDAF6CF}" destId="{A8249F09-BC1C-4D30-B68A-9A0C5940DC0A}" srcOrd="0" destOrd="0" presId="urn:microsoft.com/office/officeart/2018/2/layout/IconCircleList"/>
    <dgm:cxn modelId="{BD7034DE-D0B0-4C56-B590-D84E8D316ED4}" srcId="{E7F89EA2-8578-43F3-B3F8-3010354467F2}" destId="{EE0FC864-CA40-41C1-9D39-042D8FC400A0}" srcOrd="0" destOrd="0" parTransId="{30F1D231-91CD-4131-B3BA-0357EDAFF493}" sibTransId="{4178FD8E-5352-4AB2-8D7E-CBEDF6A0E506}"/>
    <dgm:cxn modelId="{038928EF-8847-44A5-ACFA-D184C5189302}" type="presOf" srcId="{4178FD8E-5352-4AB2-8D7E-CBEDF6A0E506}" destId="{A19200CA-C240-4AD8-886A-9C9888DF4E04}" srcOrd="0" destOrd="0" presId="urn:microsoft.com/office/officeart/2018/2/layout/IconCircleList"/>
    <dgm:cxn modelId="{7EEB18F7-3BA4-47F9-89F1-5ABB6BC039DC}" srcId="{E7F89EA2-8578-43F3-B3F8-3010354467F2}" destId="{BA6279FF-3E94-452F-8B7B-0F0B5BBC70AA}" srcOrd="3" destOrd="0" parTransId="{CB340B66-01CB-4773-B5A2-2780550E6365}" sibTransId="{6A476659-A17D-44D8-8273-D009DB7E2E4A}"/>
    <dgm:cxn modelId="{B8D39FFE-6F85-4440-A6E0-A8FECE19D515}" srcId="{E7F89EA2-8578-43F3-B3F8-3010354467F2}" destId="{C734A3CA-F244-4C1A-B294-0D3B8BDAF6CF}" srcOrd="1" destOrd="0" parTransId="{A975DF27-C272-4FB4-994C-700C15E62816}" sibTransId="{283CE921-81F0-43B3-BE9A-3928F245282E}"/>
    <dgm:cxn modelId="{F89294D4-F19D-4FBE-BF3D-E0E10FB46455}" type="presParOf" srcId="{16CBB799-4E16-466B-9F6B-39C25A440610}" destId="{519994A3-E9FD-42C6-9E97-4F8091A27BA6}" srcOrd="0" destOrd="0" presId="urn:microsoft.com/office/officeart/2018/2/layout/IconCircleList"/>
    <dgm:cxn modelId="{AA6A9314-5383-461D-AF91-B09870E7538F}" type="presParOf" srcId="{519994A3-E9FD-42C6-9E97-4F8091A27BA6}" destId="{306F1FD2-35E2-4187-98A2-C08D2099161E}" srcOrd="0" destOrd="0" presId="urn:microsoft.com/office/officeart/2018/2/layout/IconCircleList"/>
    <dgm:cxn modelId="{7FDEDE0F-BF8A-4DD6-A91E-9B7FB9A165A0}" type="presParOf" srcId="{306F1FD2-35E2-4187-98A2-C08D2099161E}" destId="{269367FF-ACC6-43FF-930A-ABBD3012B6DD}" srcOrd="0" destOrd="0" presId="urn:microsoft.com/office/officeart/2018/2/layout/IconCircleList"/>
    <dgm:cxn modelId="{4A4015F4-D535-4768-A61A-80C163BA270F}" type="presParOf" srcId="{306F1FD2-35E2-4187-98A2-C08D2099161E}" destId="{5207162A-4344-4352-8101-B1CED28485C8}" srcOrd="1" destOrd="0" presId="urn:microsoft.com/office/officeart/2018/2/layout/IconCircleList"/>
    <dgm:cxn modelId="{75511BEC-1663-4FCD-921F-05DA4280A56C}" type="presParOf" srcId="{306F1FD2-35E2-4187-98A2-C08D2099161E}" destId="{77A7040F-1E73-4DA6-AF47-A347F965C05F}" srcOrd="2" destOrd="0" presId="urn:microsoft.com/office/officeart/2018/2/layout/IconCircleList"/>
    <dgm:cxn modelId="{5C628C1D-34BA-4D46-9F39-DF88E5C8ED0A}" type="presParOf" srcId="{306F1FD2-35E2-4187-98A2-C08D2099161E}" destId="{36A2068D-5D3B-42D9-9939-37043967D994}" srcOrd="3" destOrd="0" presId="urn:microsoft.com/office/officeart/2018/2/layout/IconCircleList"/>
    <dgm:cxn modelId="{A829EC4E-9459-47DC-B13F-0F9136A53AB6}" type="presParOf" srcId="{519994A3-E9FD-42C6-9E97-4F8091A27BA6}" destId="{A19200CA-C240-4AD8-886A-9C9888DF4E04}" srcOrd="1" destOrd="0" presId="urn:microsoft.com/office/officeart/2018/2/layout/IconCircleList"/>
    <dgm:cxn modelId="{C6D6216B-1E95-4A6D-B246-00B1136D2E7F}" type="presParOf" srcId="{519994A3-E9FD-42C6-9E97-4F8091A27BA6}" destId="{6788FC7A-18A1-4F82-93E5-051BC218F072}" srcOrd="2" destOrd="0" presId="urn:microsoft.com/office/officeart/2018/2/layout/IconCircleList"/>
    <dgm:cxn modelId="{B9EB7380-78FA-42A4-B811-CCB886E6DCD7}" type="presParOf" srcId="{6788FC7A-18A1-4F82-93E5-051BC218F072}" destId="{0B528070-8C98-4A13-926F-6A17E0E75852}" srcOrd="0" destOrd="0" presId="urn:microsoft.com/office/officeart/2018/2/layout/IconCircleList"/>
    <dgm:cxn modelId="{75E96A3C-BFFE-4D34-9ECB-AD31EAD590AD}" type="presParOf" srcId="{6788FC7A-18A1-4F82-93E5-051BC218F072}" destId="{59A7098D-FC3B-417E-AD71-25881EEB8167}" srcOrd="1" destOrd="0" presId="urn:microsoft.com/office/officeart/2018/2/layout/IconCircleList"/>
    <dgm:cxn modelId="{CB582AAF-D4CE-4A02-9212-8634A746B7B1}" type="presParOf" srcId="{6788FC7A-18A1-4F82-93E5-051BC218F072}" destId="{0D7C8ECE-F1FA-4AB1-9FF4-811D86F5AB79}" srcOrd="2" destOrd="0" presId="urn:microsoft.com/office/officeart/2018/2/layout/IconCircleList"/>
    <dgm:cxn modelId="{60884D74-58A7-4176-BB32-C1E3FEC4069D}" type="presParOf" srcId="{6788FC7A-18A1-4F82-93E5-051BC218F072}" destId="{A8249F09-BC1C-4D30-B68A-9A0C5940DC0A}" srcOrd="3" destOrd="0" presId="urn:microsoft.com/office/officeart/2018/2/layout/IconCircleList"/>
    <dgm:cxn modelId="{B6B852C1-355F-4B4C-A1FA-906A3ACCAC14}" type="presParOf" srcId="{519994A3-E9FD-42C6-9E97-4F8091A27BA6}" destId="{A36F91C3-FF39-4802-A165-EE74EA0827CE}" srcOrd="3" destOrd="0" presId="urn:microsoft.com/office/officeart/2018/2/layout/IconCircleList"/>
    <dgm:cxn modelId="{EE25F6F9-EC02-4ACC-B9AC-0F6CCA6848F7}" type="presParOf" srcId="{519994A3-E9FD-42C6-9E97-4F8091A27BA6}" destId="{3B1B8C2B-E374-4E55-AFB9-DE9FE647AFE1}" srcOrd="4" destOrd="0" presId="urn:microsoft.com/office/officeart/2018/2/layout/IconCircleList"/>
    <dgm:cxn modelId="{45272A2C-8FD3-4055-9EF0-47243721ADE6}" type="presParOf" srcId="{3B1B8C2B-E374-4E55-AFB9-DE9FE647AFE1}" destId="{91FB8A93-D8FA-4A6F-AABA-94CFFB26F944}" srcOrd="0" destOrd="0" presId="urn:microsoft.com/office/officeart/2018/2/layout/IconCircleList"/>
    <dgm:cxn modelId="{D385767F-3696-431D-9F8E-5719BA31AAEA}" type="presParOf" srcId="{3B1B8C2B-E374-4E55-AFB9-DE9FE647AFE1}" destId="{DE3FAF24-0911-4E8F-86AE-34C9515619C2}" srcOrd="1" destOrd="0" presId="urn:microsoft.com/office/officeart/2018/2/layout/IconCircleList"/>
    <dgm:cxn modelId="{7BDA04C2-59C7-456D-A92A-470565C604BC}" type="presParOf" srcId="{3B1B8C2B-E374-4E55-AFB9-DE9FE647AFE1}" destId="{12B1E4D7-AF55-49F2-A3AE-91B2859F61DC}" srcOrd="2" destOrd="0" presId="urn:microsoft.com/office/officeart/2018/2/layout/IconCircleList"/>
    <dgm:cxn modelId="{912B300C-86C6-4F44-8B43-BC9AEAFC5602}" type="presParOf" srcId="{3B1B8C2B-E374-4E55-AFB9-DE9FE647AFE1}" destId="{3C939EC8-DC39-4D46-83DE-AC5EBC3342D0}" srcOrd="3" destOrd="0" presId="urn:microsoft.com/office/officeart/2018/2/layout/IconCircleList"/>
    <dgm:cxn modelId="{E9AE67FA-A89D-429E-B7AB-137683925BDA}" type="presParOf" srcId="{519994A3-E9FD-42C6-9E97-4F8091A27BA6}" destId="{E0ACBB8E-3E51-474D-A8F4-A04941DD5DB3}" srcOrd="5" destOrd="0" presId="urn:microsoft.com/office/officeart/2018/2/layout/IconCircleList"/>
    <dgm:cxn modelId="{04926D1E-D02B-47D4-96E3-1EF421128FDC}" type="presParOf" srcId="{519994A3-E9FD-42C6-9E97-4F8091A27BA6}" destId="{B59EB134-58E2-47D8-AB87-B59A850E02AB}" srcOrd="6" destOrd="0" presId="urn:microsoft.com/office/officeart/2018/2/layout/IconCircleList"/>
    <dgm:cxn modelId="{9C47E040-5A29-4AE5-A110-1FE351973DE9}" type="presParOf" srcId="{B59EB134-58E2-47D8-AB87-B59A850E02AB}" destId="{43D9917D-29BF-4639-A9AC-A27E600716AB}" srcOrd="0" destOrd="0" presId="urn:microsoft.com/office/officeart/2018/2/layout/IconCircleList"/>
    <dgm:cxn modelId="{BA402D95-EA70-4F16-8D35-9BBF9F6314A2}" type="presParOf" srcId="{B59EB134-58E2-47D8-AB87-B59A850E02AB}" destId="{6CEA49E1-C94C-42E9-A1C6-4A026F1F7909}" srcOrd="1" destOrd="0" presId="urn:microsoft.com/office/officeart/2018/2/layout/IconCircleList"/>
    <dgm:cxn modelId="{5A1E3C66-219F-4F2F-9969-1255C96A5819}" type="presParOf" srcId="{B59EB134-58E2-47D8-AB87-B59A850E02AB}" destId="{6D3D64FE-1BB5-4BDF-8F52-67326F71E275}" srcOrd="2" destOrd="0" presId="urn:microsoft.com/office/officeart/2018/2/layout/IconCircleList"/>
    <dgm:cxn modelId="{782BACE8-C2EC-4CDC-8C89-644EE652EBAE}" type="presParOf" srcId="{B59EB134-58E2-47D8-AB87-B59A850E02AB}" destId="{0B0A5BEF-C2EC-4CD4-AFDC-A07689EF5CD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367FF-ACC6-43FF-930A-ABBD3012B6DD}">
      <dsp:nvSpPr>
        <dsp:cNvPr id="0" name=""/>
        <dsp:cNvSpPr/>
      </dsp:nvSpPr>
      <dsp:spPr>
        <a:xfrm>
          <a:off x="212335" y="428648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7162A-4344-4352-8101-B1CED28485C8}">
      <dsp:nvSpPr>
        <dsp:cNvPr id="0" name=""/>
        <dsp:cNvSpPr/>
      </dsp:nvSpPr>
      <dsp:spPr>
        <a:xfrm>
          <a:off x="492877" y="709190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2068D-5D3B-42D9-9939-37043967D994}">
      <dsp:nvSpPr>
        <dsp:cNvPr id="0" name=""/>
        <dsp:cNvSpPr/>
      </dsp:nvSpPr>
      <dsp:spPr>
        <a:xfrm>
          <a:off x="1834517" y="42864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Machine learning Classification Project using Python</a:t>
          </a:r>
        </a:p>
      </dsp:txBody>
      <dsp:txXfrm>
        <a:off x="1834517" y="428648"/>
        <a:ext cx="3148942" cy="1335915"/>
      </dsp:txXfrm>
    </dsp:sp>
    <dsp:sp modelId="{0B528070-8C98-4A13-926F-6A17E0E75852}">
      <dsp:nvSpPr>
        <dsp:cNvPr id="0" name=""/>
        <dsp:cNvSpPr/>
      </dsp:nvSpPr>
      <dsp:spPr>
        <a:xfrm>
          <a:off x="5532139" y="428648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7098D-FC3B-417E-AD71-25881EEB8167}">
      <dsp:nvSpPr>
        <dsp:cNvPr id="0" name=""/>
        <dsp:cNvSpPr/>
      </dsp:nvSpPr>
      <dsp:spPr>
        <a:xfrm>
          <a:off x="5812681" y="709190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49F09-BC1C-4D30-B68A-9A0C5940DC0A}">
      <dsp:nvSpPr>
        <dsp:cNvPr id="0" name=""/>
        <dsp:cNvSpPr/>
      </dsp:nvSpPr>
      <dsp:spPr>
        <a:xfrm>
          <a:off x="7154322" y="42864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Uses data to teach a computer to make predictions</a:t>
          </a:r>
        </a:p>
      </dsp:txBody>
      <dsp:txXfrm>
        <a:off x="7154322" y="428648"/>
        <a:ext cx="3148942" cy="1335915"/>
      </dsp:txXfrm>
    </dsp:sp>
    <dsp:sp modelId="{91FB8A93-D8FA-4A6F-AABA-94CFFB26F944}">
      <dsp:nvSpPr>
        <dsp:cNvPr id="0" name=""/>
        <dsp:cNvSpPr/>
      </dsp:nvSpPr>
      <dsp:spPr>
        <a:xfrm>
          <a:off x="212335" y="2487396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FAF24-0911-4E8F-86AE-34C9515619C2}">
      <dsp:nvSpPr>
        <dsp:cNvPr id="0" name=""/>
        <dsp:cNvSpPr/>
      </dsp:nvSpPr>
      <dsp:spPr>
        <a:xfrm>
          <a:off x="492877" y="2767938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39EC8-DC39-4D46-83DE-AC5EBC3342D0}">
      <dsp:nvSpPr>
        <dsp:cNvPr id="0" name=""/>
        <dsp:cNvSpPr/>
      </dsp:nvSpPr>
      <dsp:spPr>
        <a:xfrm>
          <a:off x="1834517" y="2487396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Predicts heart disease in the specific dataset</a:t>
          </a:r>
        </a:p>
      </dsp:txBody>
      <dsp:txXfrm>
        <a:off x="1834517" y="2487396"/>
        <a:ext cx="3148942" cy="1335915"/>
      </dsp:txXfrm>
    </dsp:sp>
    <dsp:sp modelId="{43D9917D-29BF-4639-A9AC-A27E600716AB}">
      <dsp:nvSpPr>
        <dsp:cNvPr id="0" name=""/>
        <dsp:cNvSpPr/>
      </dsp:nvSpPr>
      <dsp:spPr>
        <a:xfrm>
          <a:off x="5532139" y="2487396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A49E1-C94C-42E9-A1C6-4A026F1F7909}">
      <dsp:nvSpPr>
        <dsp:cNvPr id="0" name=""/>
        <dsp:cNvSpPr/>
      </dsp:nvSpPr>
      <dsp:spPr>
        <a:xfrm>
          <a:off x="5812681" y="2767938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A5BEF-C2EC-4CD4-AFDC-A07689EF5CD3}">
      <dsp:nvSpPr>
        <dsp:cNvPr id="0" name=""/>
        <dsp:cNvSpPr/>
      </dsp:nvSpPr>
      <dsp:spPr>
        <a:xfrm>
          <a:off x="7154322" y="2487396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Helps doctors</a:t>
          </a:r>
        </a:p>
      </dsp:txBody>
      <dsp:txXfrm>
        <a:off x="7154322" y="2487396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ea typeface="+mj-lt"/>
                <a:cs typeface="+mj-lt"/>
              </a:rPr>
              <a:t>Machine Learning Project : Heart Disease Prediction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Stelios </a:t>
            </a:r>
            <a:r>
              <a:rPr lang="en-US" dirty="0" err="1"/>
              <a:t>Katsoulakis</a:t>
            </a:r>
          </a:p>
        </p:txBody>
      </p:sp>
      <p:pic>
        <p:nvPicPr>
          <p:cNvPr id="4" name="Picture 3" descr="A drawing of a human heart&#10;&#10;AI-generated content may be incorrect.">
            <a:extLst>
              <a:ext uri="{FF2B5EF4-FFF2-40B4-BE49-F238E27FC236}">
                <a16:creationId xmlns:a16="http://schemas.microsoft.com/office/drawing/2014/main" id="{667AB551-47CB-994F-7B0E-F4ED3643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00" r="3685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ED156-5CB7-4064-2F31-DD5C585F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Contents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80AF-74B3-C71D-10B1-97F68EEB8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dirty="0">
                <a:ea typeface="+mn-lt"/>
                <a:cs typeface="+mn-lt"/>
                <a:hlinkClick r:id="rId2" action="ppaction://hlinksldjump"/>
              </a:rPr>
              <a:t>Problem Statement - Project Details</a:t>
            </a:r>
            <a:endParaRPr lang="en-US" dirty="0">
              <a:hlinkClick r:id="rId2" action="ppaction://hlinksldjump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dirty="0">
                <a:ea typeface="+mn-lt"/>
                <a:cs typeface="+mn-lt"/>
                <a:hlinkClick r:id="rId3" action="ppaction://hlinksldjump"/>
              </a:rPr>
              <a:t>Methodology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dirty="0">
                <a:hlinkClick r:id="rId4" action="ppaction://hlinksldjump"/>
              </a:rPr>
              <a:t>Lessons</a:t>
            </a:r>
            <a:r>
              <a:rPr lang="en-US" sz="3200" dirty="0">
                <a:ea typeface="+mn-lt"/>
                <a:cs typeface="+mn-lt"/>
                <a:hlinkClick r:id="rId4" action="ppaction://hlinksldjump"/>
              </a:rPr>
              <a:t> Learned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6978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C7877-CD8E-A107-4C70-962E105B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19B0617-977D-EE34-1EA5-23F8509C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763AB-0730-2012-D7DB-31ACDE9A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Contents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7E75563-A4F3-1EA7-D153-639C96769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21B4-9E06-8488-D27D-DF2C8B15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b="1" dirty="0">
                <a:ea typeface="+mn-lt"/>
                <a:cs typeface="+mn-lt"/>
              </a:rPr>
              <a:t>Problem Statement - Project Details</a:t>
            </a:r>
            <a:endParaRPr lang="en-US" b="1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dirty="0">
                <a:ea typeface="+mn-lt"/>
                <a:cs typeface="+mn-lt"/>
              </a:rPr>
              <a:t>Methodology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Lessons</a:t>
            </a:r>
            <a:r>
              <a:rPr lang="en-US" sz="3200" dirty="0">
                <a:ea typeface="+mn-lt"/>
                <a:cs typeface="+mn-lt"/>
              </a:rPr>
              <a:t> Learned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59631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328B2-ADBC-653E-87B2-815402643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ea typeface="+mj-lt"/>
                <a:cs typeface="+mj-lt"/>
              </a:rPr>
              <a:t>Problem Statement - Project Details</a:t>
            </a:r>
            <a:r>
              <a:rPr lang="en-US" sz="5400" dirty="0"/>
              <a:t> </a:t>
            </a:r>
            <a:endParaRPr lang="en-US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E96DC703-7AE1-9A58-6655-87557C6FB1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012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31473-4F38-375E-83E4-1A8247C9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FC5CEDA-E950-FBD8-F8F1-75470D2BF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83BA7-841B-20C7-A374-0A1DCFAB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Contents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85D63D22-CE90-CAE5-5C46-519543EF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0E90-998C-EABF-3A7E-83862C0F0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dirty="0">
                <a:ea typeface="+mn-lt"/>
                <a:cs typeface="+mn-lt"/>
              </a:rPr>
              <a:t>Problem Statement - Project Details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b="1" dirty="0">
                <a:ea typeface="+mn-lt"/>
                <a:cs typeface="+mn-lt"/>
              </a:rPr>
              <a:t>Methodology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Lessons</a:t>
            </a:r>
            <a:r>
              <a:rPr lang="en-US" sz="3200" dirty="0">
                <a:ea typeface="+mn-lt"/>
                <a:cs typeface="+mn-lt"/>
              </a:rPr>
              <a:t> Learned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30958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8ABD1-9F4D-FFD0-BB23-0705783F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800" dirty="0"/>
              <a:t>Methodology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9015-438E-1553-DBDA-D47419500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4 step process: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Exploratory Data Analysis (EDA)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Data Cleaning &amp; Preprocessing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Model Training &amp; Selection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Evaluation &amp; Results</a:t>
            </a:r>
          </a:p>
          <a:p>
            <a:pPr marL="457200" lvl="1" indent="0">
              <a:buNone/>
            </a:pPr>
            <a:endParaRPr lang="en-US" sz="220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616894D-8877-E312-E659-C75E6DEB6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376183"/>
            <a:ext cx="6903720" cy="210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C83EB-9387-ED62-AD99-2C33DE6E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Exploratory Data Analysis (EDA)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E5F6-3502-8B3F-C96C-34EA33DD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Gaining a clear picture of the data</a:t>
            </a:r>
          </a:p>
          <a:p>
            <a:r>
              <a:rPr lang="en-US" sz="3200" dirty="0"/>
              <a:t>Notice patterns: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Distributions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Outliers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Correlations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A7B66-6D7A-25B7-5AD7-165387F19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2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1199D26-7D8F-4A64-BDBB-73AFABE14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0B16C-F02F-4368-5416-AFB4588A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3004"/>
            <a:ext cx="6745458" cy="3082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02A1B05-547B-D7FB-05FD-924FCF809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085454"/>
            <a:ext cx="6745458" cy="196624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Distribution of features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D7F2FAFA-4D50-41E7-9480-5BABA64EE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3870524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166060B0-3FE6-4F2C-E5BB-57D25AA0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1" r="9063" b="-2"/>
          <a:stretch>
            <a:fillRect/>
          </a:stretch>
        </p:blipFill>
        <p:spPr>
          <a:xfrm>
            <a:off x="7876903" y="296092"/>
            <a:ext cx="4001589" cy="3592721"/>
          </a:xfrm>
          <a:custGeom>
            <a:avLst/>
            <a:gdLst/>
            <a:ahLst/>
            <a:cxnLst/>
            <a:rect l="l" t="t" r="r" b="b"/>
            <a:pathLst>
              <a:path w="4001589" h="3592721">
                <a:moveTo>
                  <a:pt x="470166" y="82"/>
                </a:moveTo>
                <a:cubicBezTo>
                  <a:pt x="518288" y="-605"/>
                  <a:pt x="566386" y="3023"/>
                  <a:pt x="614238" y="13021"/>
                </a:cubicBezTo>
                <a:cubicBezTo>
                  <a:pt x="720229" y="34420"/>
                  <a:pt x="827897" y="40027"/>
                  <a:pt x="934955" y="29726"/>
                </a:cubicBezTo>
                <a:cubicBezTo>
                  <a:pt x="1040555" y="20702"/>
                  <a:pt x="1146350" y="20093"/>
                  <a:pt x="1252244" y="22653"/>
                </a:cubicBezTo>
                <a:cubicBezTo>
                  <a:pt x="1347753" y="24970"/>
                  <a:pt x="1443361" y="24604"/>
                  <a:pt x="1538871" y="18020"/>
                </a:cubicBezTo>
                <a:cubicBezTo>
                  <a:pt x="1646135" y="10461"/>
                  <a:pt x="1753400" y="3998"/>
                  <a:pt x="1860568" y="18996"/>
                </a:cubicBezTo>
                <a:cubicBezTo>
                  <a:pt x="1953834" y="33431"/>
                  <a:pt x="2047727" y="40637"/>
                  <a:pt x="2141708" y="40575"/>
                </a:cubicBezTo>
                <a:cubicBezTo>
                  <a:pt x="2266312" y="38870"/>
                  <a:pt x="2390622" y="26800"/>
                  <a:pt x="2515030" y="19849"/>
                </a:cubicBezTo>
                <a:cubicBezTo>
                  <a:pt x="2685674" y="10339"/>
                  <a:pt x="2856416" y="2169"/>
                  <a:pt x="3027158" y="16801"/>
                </a:cubicBezTo>
                <a:cubicBezTo>
                  <a:pt x="3145198" y="27409"/>
                  <a:pt x="3263238" y="37163"/>
                  <a:pt x="3381769" y="28994"/>
                </a:cubicBezTo>
                <a:cubicBezTo>
                  <a:pt x="3465425" y="23262"/>
                  <a:pt x="3549180" y="14972"/>
                  <a:pt x="3633033" y="20460"/>
                </a:cubicBezTo>
                <a:lnTo>
                  <a:pt x="3738744" y="24700"/>
                </a:lnTo>
                <a:lnTo>
                  <a:pt x="3738744" y="24830"/>
                </a:lnTo>
                <a:lnTo>
                  <a:pt x="3750661" y="25178"/>
                </a:lnTo>
                <a:lnTo>
                  <a:pt x="3795264" y="26968"/>
                </a:lnTo>
                <a:lnTo>
                  <a:pt x="3814191" y="26606"/>
                </a:lnTo>
                <a:lnTo>
                  <a:pt x="3814191" y="25296"/>
                </a:lnTo>
                <a:lnTo>
                  <a:pt x="3941656" y="20351"/>
                </a:lnTo>
                <a:lnTo>
                  <a:pt x="3996286" y="20544"/>
                </a:lnTo>
                <a:lnTo>
                  <a:pt x="3999704" y="184279"/>
                </a:lnTo>
                <a:cubicBezTo>
                  <a:pt x="4007337" y="352273"/>
                  <a:pt x="3989916" y="519048"/>
                  <a:pt x="3980912" y="686066"/>
                </a:cubicBezTo>
                <a:cubicBezTo>
                  <a:pt x="3974530" y="824285"/>
                  <a:pt x="3975254" y="962883"/>
                  <a:pt x="3983065" y="1100993"/>
                </a:cubicBezTo>
                <a:cubicBezTo>
                  <a:pt x="3994418" y="1329775"/>
                  <a:pt x="3995984" y="1558558"/>
                  <a:pt x="3989623" y="1787585"/>
                </a:cubicBezTo>
                <a:cubicBezTo>
                  <a:pt x="3986490" y="1901610"/>
                  <a:pt x="3987763" y="2015515"/>
                  <a:pt x="3991678" y="2129418"/>
                </a:cubicBezTo>
                <a:cubicBezTo>
                  <a:pt x="4000780" y="2390605"/>
                  <a:pt x="3990600" y="2651550"/>
                  <a:pt x="3987568" y="2912616"/>
                </a:cubicBezTo>
                <a:cubicBezTo>
                  <a:pt x="3986393" y="3012022"/>
                  <a:pt x="3986588" y="3111430"/>
                  <a:pt x="3990992" y="3210716"/>
                </a:cubicBezTo>
                <a:cubicBezTo>
                  <a:pt x="3995886" y="3323219"/>
                  <a:pt x="3997281" y="3435722"/>
                  <a:pt x="3996754" y="3548225"/>
                </a:cubicBezTo>
                <a:lnTo>
                  <a:pt x="3996203" y="3580527"/>
                </a:lnTo>
                <a:lnTo>
                  <a:pt x="3817494" y="3567893"/>
                </a:lnTo>
                <a:cubicBezTo>
                  <a:pt x="3755892" y="3566024"/>
                  <a:pt x="3694230" y="3566635"/>
                  <a:pt x="3632626" y="3569729"/>
                </a:cubicBezTo>
                <a:cubicBezTo>
                  <a:pt x="3508559" y="3576065"/>
                  <a:pt x="3384601" y="3593362"/>
                  <a:pt x="3260317" y="3578866"/>
                </a:cubicBezTo>
                <a:cubicBezTo>
                  <a:pt x="3046403" y="3553649"/>
                  <a:pt x="2833252" y="3579963"/>
                  <a:pt x="2619882" y="3588368"/>
                </a:cubicBezTo>
                <a:cubicBezTo>
                  <a:pt x="2454934" y="3596047"/>
                  <a:pt x="2289690" y="3590429"/>
                  <a:pt x="2125460" y="3571557"/>
                </a:cubicBezTo>
                <a:cubicBezTo>
                  <a:pt x="1964487" y="3553014"/>
                  <a:pt x="1802168" y="3554895"/>
                  <a:pt x="1641577" y="3577161"/>
                </a:cubicBezTo>
                <a:cubicBezTo>
                  <a:pt x="1569765" y="3584855"/>
                  <a:pt x="1497464" y="3585179"/>
                  <a:pt x="1425600" y="3578135"/>
                </a:cubicBezTo>
                <a:cubicBezTo>
                  <a:pt x="1311136" y="3569647"/>
                  <a:pt x="1196249" y="3571642"/>
                  <a:pt x="1082079" y="3584104"/>
                </a:cubicBezTo>
                <a:cubicBezTo>
                  <a:pt x="932047" y="3601037"/>
                  <a:pt x="781581" y="3588856"/>
                  <a:pt x="631439" y="3582643"/>
                </a:cubicBezTo>
                <a:cubicBezTo>
                  <a:pt x="518453" y="3578013"/>
                  <a:pt x="405576" y="3575211"/>
                  <a:pt x="292590" y="3579597"/>
                </a:cubicBezTo>
                <a:lnTo>
                  <a:pt x="24062" y="3578027"/>
                </a:lnTo>
                <a:lnTo>
                  <a:pt x="26037" y="3426039"/>
                </a:lnTo>
                <a:cubicBezTo>
                  <a:pt x="28388" y="3239733"/>
                  <a:pt x="28388" y="3053550"/>
                  <a:pt x="10461" y="2867977"/>
                </a:cubicBezTo>
                <a:cubicBezTo>
                  <a:pt x="-1195" y="2748609"/>
                  <a:pt x="-5604" y="2628267"/>
                  <a:pt x="10461" y="2509144"/>
                </a:cubicBezTo>
                <a:cubicBezTo>
                  <a:pt x="27654" y="2377219"/>
                  <a:pt x="32159" y="2243207"/>
                  <a:pt x="23883" y="2109954"/>
                </a:cubicBezTo>
                <a:cubicBezTo>
                  <a:pt x="16633" y="1978516"/>
                  <a:pt x="16143" y="1846835"/>
                  <a:pt x="18200" y="1715031"/>
                </a:cubicBezTo>
                <a:cubicBezTo>
                  <a:pt x="20062" y="1596151"/>
                  <a:pt x="19768" y="1477150"/>
                  <a:pt x="14477" y="1358271"/>
                </a:cubicBezTo>
                <a:cubicBezTo>
                  <a:pt x="8405" y="1224761"/>
                  <a:pt x="3212" y="1091250"/>
                  <a:pt x="15262" y="957861"/>
                </a:cubicBezTo>
                <a:cubicBezTo>
                  <a:pt x="26859" y="841775"/>
                  <a:pt x="32649" y="724907"/>
                  <a:pt x="32599" y="607930"/>
                </a:cubicBezTo>
                <a:cubicBezTo>
                  <a:pt x="31229" y="452838"/>
                  <a:pt x="21531" y="298112"/>
                  <a:pt x="15947" y="143264"/>
                </a:cubicBezTo>
                <a:lnTo>
                  <a:pt x="13308" y="44257"/>
                </a:lnTo>
                <a:lnTo>
                  <a:pt x="17662" y="44403"/>
                </a:lnTo>
                <a:lnTo>
                  <a:pt x="92850" y="32188"/>
                </a:lnTo>
                <a:lnTo>
                  <a:pt x="101988" y="32179"/>
                </a:lnTo>
                <a:cubicBezTo>
                  <a:pt x="176730" y="29756"/>
                  <a:pt x="251399" y="24177"/>
                  <a:pt x="325945" y="13021"/>
                </a:cubicBezTo>
                <a:cubicBezTo>
                  <a:pt x="373897" y="5767"/>
                  <a:pt x="422044" y="768"/>
                  <a:pt x="470166" y="82"/>
                </a:cubicBezTo>
                <a:close/>
              </a:path>
            </a:pathLst>
          </a:cu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06D8980F-D936-08CC-2085-A8FE4075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83" b="9701"/>
          <a:stretch>
            <a:fillRect/>
          </a:stretch>
        </p:blipFill>
        <p:spPr>
          <a:xfrm>
            <a:off x="7876902" y="3952357"/>
            <a:ext cx="4001589" cy="2354447"/>
          </a:xfrm>
          <a:custGeom>
            <a:avLst/>
            <a:gdLst/>
            <a:ahLst/>
            <a:cxnLst/>
            <a:rect l="l" t="t" r="r" b="b"/>
            <a:pathLst>
              <a:path w="4001589" h="2354447">
                <a:moveTo>
                  <a:pt x="470166" y="54"/>
                </a:moveTo>
                <a:cubicBezTo>
                  <a:pt x="518288" y="-396"/>
                  <a:pt x="566386" y="1981"/>
                  <a:pt x="614238" y="8533"/>
                </a:cubicBezTo>
                <a:cubicBezTo>
                  <a:pt x="720229" y="22557"/>
                  <a:pt x="827897" y="26232"/>
                  <a:pt x="934955" y="19481"/>
                </a:cubicBezTo>
                <a:cubicBezTo>
                  <a:pt x="1040555" y="13567"/>
                  <a:pt x="1146350" y="13168"/>
                  <a:pt x="1252244" y="14846"/>
                </a:cubicBezTo>
                <a:cubicBezTo>
                  <a:pt x="1347753" y="16364"/>
                  <a:pt x="1443361" y="16124"/>
                  <a:pt x="1538871" y="11809"/>
                </a:cubicBezTo>
                <a:cubicBezTo>
                  <a:pt x="1646135" y="6855"/>
                  <a:pt x="1753400" y="2620"/>
                  <a:pt x="1860568" y="12449"/>
                </a:cubicBezTo>
                <a:cubicBezTo>
                  <a:pt x="1953834" y="21909"/>
                  <a:pt x="2047727" y="26631"/>
                  <a:pt x="2141708" y="26591"/>
                </a:cubicBezTo>
                <a:cubicBezTo>
                  <a:pt x="2266312" y="25473"/>
                  <a:pt x="2390622" y="17563"/>
                  <a:pt x="2515030" y="13008"/>
                </a:cubicBezTo>
                <a:cubicBezTo>
                  <a:pt x="2685674" y="6776"/>
                  <a:pt x="2856416" y="1422"/>
                  <a:pt x="3027158" y="11010"/>
                </a:cubicBezTo>
                <a:cubicBezTo>
                  <a:pt x="3145198" y="17962"/>
                  <a:pt x="3263238" y="24355"/>
                  <a:pt x="3381769" y="19001"/>
                </a:cubicBezTo>
                <a:cubicBezTo>
                  <a:pt x="3465425" y="15245"/>
                  <a:pt x="3549180" y="9812"/>
                  <a:pt x="3633033" y="13408"/>
                </a:cubicBezTo>
                <a:lnTo>
                  <a:pt x="3738744" y="16187"/>
                </a:lnTo>
                <a:lnTo>
                  <a:pt x="3738744" y="16272"/>
                </a:lnTo>
                <a:lnTo>
                  <a:pt x="3750661" y="16501"/>
                </a:lnTo>
                <a:lnTo>
                  <a:pt x="3795264" y="17673"/>
                </a:lnTo>
                <a:lnTo>
                  <a:pt x="3814191" y="17436"/>
                </a:lnTo>
                <a:lnTo>
                  <a:pt x="3814191" y="16578"/>
                </a:lnTo>
                <a:lnTo>
                  <a:pt x="3941656" y="13337"/>
                </a:lnTo>
                <a:lnTo>
                  <a:pt x="3996286" y="13464"/>
                </a:lnTo>
                <a:lnTo>
                  <a:pt x="3999704" y="120765"/>
                </a:lnTo>
                <a:cubicBezTo>
                  <a:pt x="4007337" y="230858"/>
                  <a:pt x="3989916" y="340152"/>
                  <a:pt x="3980912" y="449605"/>
                </a:cubicBezTo>
                <a:cubicBezTo>
                  <a:pt x="3974530" y="540185"/>
                  <a:pt x="3975254" y="631014"/>
                  <a:pt x="3983065" y="721523"/>
                </a:cubicBezTo>
                <a:cubicBezTo>
                  <a:pt x="3994418" y="871452"/>
                  <a:pt x="3995984" y="1021383"/>
                  <a:pt x="3989623" y="1171473"/>
                </a:cubicBezTo>
                <a:cubicBezTo>
                  <a:pt x="3986490" y="1246198"/>
                  <a:pt x="3987763" y="1320844"/>
                  <a:pt x="3991678" y="1395489"/>
                </a:cubicBezTo>
                <a:cubicBezTo>
                  <a:pt x="4000780" y="1566655"/>
                  <a:pt x="3990600" y="1737662"/>
                  <a:pt x="3987568" y="1908748"/>
                </a:cubicBezTo>
                <a:cubicBezTo>
                  <a:pt x="3986393" y="1973893"/>
                  <a:pt x="3986588" y="2039039"/>
                  <a:pt x="3990992" y="2104104"/>
                </a:cubicBezTo>
                <a:cubicBezTo>
                  <a:pt x="3995886" y="2177832"/>
                  <a:pt x="3997281" y="2251559"/>
                  <a:pt x="3996754" y="2325287"/>
                </a:cubicBezTo>
                <a:lnTo>
                  <a:pt x="3996203" y="2346456"/>
                </a:lnTo>
                <a:lnTo>
                  <a:pt x="3817494" y="2338176"/>
                </a:lnTo>
                <a:cubicBezTo>
                  <a:pt x="3755892" y="2336952"/>
                  <a:pt x="3694230" y="2337352"/>
                  <a:pt x="3632626" y="2339380"/>
                </a:cubicBezTo>
                <a:cubicBezTo>
                  <a:pt x="3508559" y="2343531"/>
                  <a:pt x="3384601" y="2354867"/>
                  <a:pt x="3260317" y="2345368"/>
                </a:cubicBezTo>
                <a:cubicBezTo>
                  <a:pt x="3046403" y="2328842"/>
                  <a:pt x="2833252" y="2346086"/>
                  <a:pt x="2619882" y="2351594"/>
                </a:cubicBezTo>
                <a:cubicBezTo>
                  <a:pt x="2454934" y="2356627"/>
                  <a:pt x="2289690" y="2352945"/>
                  <a:pt x="2125460" y="2340577"/>
                </a:cubicBezTo>
                <a:cubicBezTo>
                  <a:pt x="1964487" y="2328426"/>
                  <a:pt x="1802168" y="2329658"/>
                  <a:pt x="1641577" y="2344250"/>
                </a:cubicBezTo>
                <a:cubicBezTo>
                  <a:pt x="1569765" y="2349292"/>
                  <a:pt x="1497464" y="2349505"/>
                  <a:pt x="1425600" y="2344888"/>
                </a:cubicBezTo>
                <a:cubicBezTo>
                  <a:pt x="1311136" y="2339326"/>
                  <a:pt x="1196249" y="2340633"/>
                  <a:pt x="1082079" y="2348800"/>
                </a:cubicBezTo>
                <a:cubicBezTo>
                  <a:pt x="932047" y="2359897"/>
                  <a:pt x="781581" y="2351914"/>
                  <a:pt x="631439" y="2347842"/>
                </a:cubicBezTo>
                <a:cubicBezTo>
                  <a:pt x="518453" y="2344808"/>
                  <a:pt x="405576" y="2342972"/>
                  <a:pt x="292590" y="2345846"/>
                </a:cubicBezTo>
                <a:lnTo>
                  <a:pt x="24062" y="2344817"/>
                </a:lnTo>
                <a:lnTo>
                  <a:pt x="26037" y="2245214"/>
                </a:lnTo>
                <a:cubicBezTo>
                  <a:pt x="28388" y="2123121"/>
                  <a:pt x="28388" y="2001108"/>
                  <a:pt x="10461" y="1879495"/>
                </a:cubicBezTo>
                <a:cubicBezTo>
                  <a:pt x="-1195" y="1801269"/>
                  <a:pt x="-5604" y="1722404"/>
                  <a:pt x="10461" y="1644338"/>
                </a:cubicBezTo>
                <a:cubicBezTo>
                  <a:pt x="27654" y="1557882"/>
                  <a:pt x="32159" y="1470059"/>
                  <a:pt x="23883" y="1382733"/>
                </a:cubicBezTo>
                <a:cubicBezTo>
                  <a:pt x="16633" y="1296597"/>
                  <a:pt x="16143" y="1210301"/>
                  <a:pt x="18200" y="1123925"/>
                </a:cubicBezTo>
                <a:cubicBezTo>
                  <a:pt x="20062" y="1046019"/>
                  <a:pt x="19768" y="968033"/>
                  <a:pt x="14477" y="890127"/>
                </a:cubicBezTo>
                <a:cubicBezTo>
                  <a:pt x="8405" y="802633"/>
                  <a:pt x="3212" y="715138"/>
                  <a:pt x="15262" y="627723"/>
                </a:cubicBezTo>
                <a:cubicBezTo>
                  <a:pt x="26859" y="551647"/>
                  <a:pt x="32649" y="475059"/>
                  <a:pt x="32599" y="398400"/>
                </a:cubicBezTo>
                <a:cubicBezTo>
                  <a:pt x="31229" y="296762"/>
                  <a:pt x="21531" y="195365"/>
                  <a:pt x="15947" y="93886"/>
                </a:cubicBezTo>
                <a:lnTo>
                  <a:pt x="13308" y="29003"/>
                </a:lnTo>
                <a:lnTo>
                  <a:pt x="17662" y="29099"/>
                </a:lnTo>
                <a:lnTo>
                  <a:pt x="92850" y="21094"/>
                </a:lnTo>
                <a:lnTo>
                  <a:pt x="101988" y="21088"/>
                </a:lnTo>
                <a:cubicBezTo>
                  <a:pt x="176730" y="19500"/>
                  <a:pt x="251399" y="15844"/>
                  <a:pt x="325945" y="8533"/>
                </a:cubicBezTo>
                <a:cubicBezTo>
                  <a:pt x="373897" y="3780"/>
                  <a:pt x="422044" y="503"/>
                  <a:pt x="470166" y="5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394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C1972-41EF-4F7B-CDD0-97C112DA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Exploratory Data Analysis (EDA)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F4D6A-7CAF-9D54-F1D3-D8592C9D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471429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Found the outliers using box plots</a:t>
            </a:r>
          </a:p>
          <a:p>
            <a:r>
              <a:rPr lang="en-US" sz="2200" dirty="0"/>
              <a:t>Dots are outliers</a:t>
            </a:r>
            <a:br>
              <a:rPr lang="en-US" sz="2200" dirty="0"/>
            </a:br>
            <a:endParaRPr lang="en-US" sz="2200"/>
          </a:p>
        </p:txBody>
      </p:sp>
      <p:pic>
        <p:nvPicPr>
          <p:cNvPr id="4" name="Picture 3" descr="A graph showing a number of red squares&#10;&#10;AI-generated content may be incorrect.">
            <a:extLst>
              <a:ext uri="{FF2B5EF4-FFF2-40B4-BE49-F238E27FC236}">
                <a16:creationId xmlns:a16="http://schemas.microsoft.com/office/drawing/2014/main" id="{5B0306DA-FF9D-773E-B8FF-4B844B35E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664" y="128417"/>
            <a:ext cx="5482187" cy="3293618"/>
          </a:xfrm>
          <a:prstGeom prst="rect">
            <a:avLst/>
          </a:prstGeom>
        </p:spPr>
      </p:pic>
      <p:pic>
        <p:nvPicPr>
          <p:cNvPr id="5" name="Picture 4" descr="A graph with red and white lines&#10;&#10;AI-generated content may be incorrect.">
            <a:extLst>
              <a:ext uri="{FF2B5EF4-FFF2-40B4-BE49-F238E27FC236}">
                <a16:creationId xmlns:a16="http://schemas.microsoft.com/office/drawing/2014/main" id="{FA2FE334-BD0E-8180-0255-74CFF9E54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521" y="3429867"/>
            <a:ext cx="5496622" cy="27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05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0B410-FAE5-62AD-4B62-BFE24645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Exploratory Data Analysis (EDA)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FBC1E-F52C-D4EE-2994-BD6F9C268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Used a Heatmap to find the correlation between features</a:t>
            </a:r>
          </a:p>
          <a:p>
            <a:r>
              <a:rPr lang="en-US" sz="2200" dirty="0"/>
              <a:t>More Red: Higer Correlation</a:t>
            </a:r>
          </a:p>
          <a:p>
            <a:r>
              <a:rPr lang="en-US" sz="2200" dirty="0"/>
              <a:t>More Blue: Lower Correlation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CDAE9075-1F6C-9887-3EF4-2119E5E6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372" y="640080"/>
            <a:ext cx="678156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6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04447-B4B7-DBE5-0977-967E221C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Data Cleaning &amp; Preprocessing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416DD-982E-4EBF-9393-FA7800A7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The computer cannot understand the data</a:t>
            </a:r>
          </a:p>
          <a:p>
            <a:r>
              <a:rPr lang="en-US" sz="3200" dirty="0"/>
              <a:t>Data should be changed and "organized"</a:t>
            </a:r>
          </a:p>
          <a:p>
            <a:r>
              <a:rPr lang="en-US" sz="3200" dirty="0">
                <a:ea typeface="+mn-lt"/>
                <a:cs typeface="+mn-lt"/>
              </a:rPr>
              <a:t>Removed or fixed missing data</a:t>
            </a:r>
          </a:p>
          <a:p>
            <a:r>
              <a:rPr lang="en-US" sz="3200" dirty="0">
                <a:ea typeface="+mn-lt"/>
                <a:cs typeface="+mn-lt"/>
              </a:rPr>
              <a:t>Converted text data into numbers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3200" dirty="0">
              <a:ea typeface="+mn-lt"/>
              <a:cs typeface="+mn-lt"/>
            </a:endParaRPr>
          </a:p>
        </p:txBody>
      </p:sp>
      <p:pic>
        <p:nvPicPr>
          <p:cNvPr id="4" name="Picture 3" descr="Data Preprocessing Steps in Machine ...">
            <a:extLst>
              <a:ext uri="{FF2B5EF4-FFF2-40B4-BE49-F238E27FC236}">
                <a16:creationId xmlns:a16="http://schemas.microsoft.com/office/drawing/2014/main" id="{7A39F1C2-0EF5-785B-C8C5-F008D262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3" r="2438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2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56ECF-9A88-B4D4-75EB-02FC41FA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Model Training &amp; Selection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raining Machine Learning Models ...">
            <a:extLst>
              <a:ext uri="{FF2B5EF4-FFF2-40B4-BE49-F238E27FC236}">
                <a16:creationId xmlns:a16="http://schemas.microsoft.com/office/drawing/2014/main" id="{F6D92251-31B9-C1A5-1DF0-B95FB8F2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21" r="17180" b="2"/>
          <a:stretch>
            <a:fillRect/>
          </a:stretch>
        </p:blipFill>
        <p:spPr>
          <a:xfrm>
            <a:off x="572492" y="2002056"/>
            <a:ext cx="3943849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686A-F343-C1BA-9E96-FCA3C8934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955" y="2071316"/>
            <a:ext cx="6713552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The way the computer makes the predictions</a:t>
            </a:r>
          </a:p>
          <a:p>
            <a:r>
              <a:rPr lang="en-US" sz="3200" dirty="0"/>
              <a:t>Training of the computer using examples</a:t>
            </a:r>
          </a:p>
          <a:p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66757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4253-2920-1B73-A5C2-D49D33D3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&amp; Selection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E05E-AAD7-9B5A-1003-561867120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Decision Tree Based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A2AD-821F-243D-70A0-A8368052EC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K-Nearest Neighbors (KNN)</a:t>
            </a:r>
          </a:p>
          <a:p>
            <a:r>
              <a:rPr lang="en-US" dirty="0"/>
              <a:t>Support Vector Machine (SVM)</a:t>
            </a:r>
          </a:p>
          <a:p>
            <a:r>
              <a:rPr lang="en-US" dirty="0"/>
              <a:t>Naïve Bayes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Split in Training and Testing Datasets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7705C0-DD0D-AFC4-28AB-2E99DD08C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Decision Tree Based Models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7128C-94EF-DD2B-F370-963C5496657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Decision Trees</a:t>
            </a:r>
          </a:p>
          <a:p>
            <a:r>
              <a:rPr lang="en-US" dirty="0"/>
              <a:t>Random Forests </a:t>
            </a:r>
          </a:p>
          <a:p>
            <a:r>
              <a:rPr lang="en-US" dirty="0"/>
              <a:t>Split in Training and Testing Datasets</a:t>
            </a:r>
          </a:p>
        </p:txBody>
      </p:sp>
    </p:spTree>
    <p:extLst>
      <p:ext uri="{BB962C8B-B14F-4D97-AF65-F5344CB8AC3E}">
        <p14:creationId xmlns:p14="http://schemas.microsoft.com/office/powerpoint/2010/main" val="171924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69516-A903-E69F-A574-29B28ABF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Evaluation &amp; Results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546FB89-BFA1-D321-2EC8-2EA3A2592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Training the computer to make predictions in the </a:t>
            </a:r>
            <a:r>
              <a:rPr lang="en-US" sz="2200" b="1" dirty="0"/>
              <a:t>best</a:t>
            </a:r>
            <a:r>
              <a:rPr lang="en-US" sz="2200" dirty="0"/>
              <a:t> way</a:t>
            </a:r>
          </a:p>
          <a:p>
            <a:r>
              <a:rPr lang="en-US" sz="2200" dirty="0"/>
              <a:t>Using Cross Validation</a:t>
            </a:r>
          </a:p>
          <a:p>
            <a:r>
              <a:rPr lang="en-US" sz="2200" dirty="0"/>
              <a:t>Accuracy is not enough</a:t>
            </a:r>
          </a:p>
          <a:p>
            <a:r>
              <a:rPr lang="en-US" sz="2200" dirty="0"/>
              <a:t>Used another metric (F1 Score)</a:t>
            </a:r>
          </a:p>
          <a:p>
            <a:r>
              <a:rPr lang="en-US" sz="2200" dirty="0"/>
              <a:t>Shows how many True Positives and True Negative the model had</a:t>
            </a:r>
          </a:p>
          <a:p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A3FB9-9D46-B560-4110-58009307BE44}"/>
              </a:ext>
            </a:extLst>
          </p:cNvPr>
          <p:cNvSpPr txBox="1"/>
          <p:nvPr/>
        </p:nvSpPr>
        <p:spPr>
          <a:xfrm>
            <a:off x="5053853" y="1826559"/>
            <a:ext cx="6096000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b="1"/>
              <a:t>5-Fold Cross-Validation Results (F1 Score)</a:t>
            </a:r>
          </a:p>
          <a:p>
            <a:pPr algn="ctr">
              <a:spcAft>
                <a:spcPts val="600"/>
              </a:spcAft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BD3563-F769-3184-7B2D-9948D9C80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845411"/>
              </p:ext>
            </p:extLst>
          </p:nvPr>
        </p:nvGraphicFramePr>
        <p:xfrm>
          <a:off x="4654296" y="2192916"/>
          <a:ext cx="6903721" cy="247216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277128">
                  <a:extLst>
                    <a:ext uri="{9D8B030D-6E8A-4147-A177-3AD203B41FA5}">
                      <a16:colId xmlns:a16="http://schemas.microsoft.com/office/drawing/2014/main" val="156698734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1515405642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307619864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3543691485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1675588164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4099391216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4004788008"/>
                    </a:ext>
                  </a:extLst>
                </a:gridCol>
                <a:gridCol w="803799">
                  <a:extLst>
                    <a:ext uri="{9D8B030D-6E8A-4147-A177-3AD203B41FA5}">
                      <a16:colId xmlns:a16="http://schemas.microsoft.com/office/drawing/2014/main" val="265588222"/>
                    </a:ext>
                  </a:extLst>
                </a:gridCol>
              </a:tblGrid>
              <a:tr h="67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23926" marR="95328" marT="95328" marB="953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Fold 1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Fold 2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Fold 3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Fold 4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Fold 5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Mean F1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± Std Dev</a:t>
                      </a:r>
                    </a:p>
                  </a:txBody>
                  <a:tcPr marL="123926" marR="95328" marT="95328" marB="953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41869"/>
                  </a:ext>
                </a:extLst>
              </a:tr>
              <a:tr h="67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marL="123926" marR="95328" marT="95328" marB="953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0.899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0.888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0.864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0.852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0.824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0.865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0.054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28806"/>
                  </a:ext>
                </a:extLst>
              </a:tr>
              <a:tr h="451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SVM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0.907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0.892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0.904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0.873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0.842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0.883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0.048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83952"/>
                  </a:ext>
                </a:extLst>
              </a:tr>
              <a:tr h="67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23926" marR="95328" marT="95328" marB="9532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0.916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0.892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0.877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0.863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0.857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0.881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0.042</a:t>
                      </a:r>
                    </a:p>
                  </a:txBody>
                  <a:tcPr marL="123926" marR="95328" marT="95328" marB="9532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927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31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3924A-2107-126B-6C8D-B64E0368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3901E86-C67E-A8BF-5AEB-D5FE1ED38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C1FE6-F5DB-0DAA-4D78-199C3445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Contents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5862D38-0821-E7E7-86D3-F278D15D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CB227-CBF6-0A0B-7A5D-A4412C7FF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dirty="0">
                <a:ea typeface="+mn-lt"/>
                <a:cs typeface="+mn-lt"/>
              </a:rPr>
              <a:t>Problem Statement - Project Details</a:t>
            </a:r>
            <a:endParaRPr lang="en-US"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>
                <a:ea typeface="+mn-lt"/>
                <a:cs typeface="+mn-lt"/>
              </a:rPr>
              <a:t>   Methodology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3200" dirty="0"/>
              <a:t>   </a:t>
            </a:r>
            <a:r>
              <a:rPr lang="en-US" sz="3200" b="1" dirty="0"/>
              <a:t>Lessons</a:t>
            </a:r>
            <a:r>
              <a:rPr lang="en-US" sz="3200" b="1" dirty="0">
                <a:ea typeface="+mn-lt"/>
                <a:cs typeface="+mn-lt"/>
              </a:rPr>
              <a:t> Learned</a:t>
            </a:r>
            <a:endParaRPr lang="en-US" b="1"/>
          </a:p>
          <a:p>
            <a:pPr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57760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2F98-734E-ED55-B45A-CCA87468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D6694-9833-97D0-8AB2-2249F7C9C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9DFDC-3A86-0ECE-FDB3-8D47EB2148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Finished my first Machine Learning Project</a:t>
            </a:r>
          </a:p>
          <a:p>
            <a:r>
              <a:rPr lang="en-US" dirty="0"/>
              <a:t>With a little patience everything can be done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D621D-C605-BD43-9C03-E9D5D2CB3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How can I improve?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5F8F5-9E4E-3D4A-DBC2-9B359B4EFB9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Model accuracy is not enough</a:t>
            </a:r>
          </a:p>
          <a:p>
            <a:r>
              <a:rPr lang="en-US" dirty="0"/>
              <a:t>Limitations of data can affect results</a:t>
            </a:r>
          </a:p>
        </p:txBody>
      </p:sp>
    </p:spTree>
    <p:extLst>
      <p:ext uri="{BB962C8B-B14F-4D97-AF65-F5344CB8AC3E}">
        <p14:creationId xmlns:p14="http://schemas.microsoft.com/office/powerpoint/2010/main" val="2219870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386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Wingdings</vt:lpstr>
      <vt:lpstr>office theme</vt:lpstr>
      <vt:lpstr>Machine Learning Project : Heart Disease Prediction </vt:lpstr>
      <vt:lpstr>Contents</vt:lpstr>
      <vt:lpstr>Contents</vt:lpstr>
      <vt:lpstr>Problem Statement - Project Details </vt:lpstr>
      <vt:lpstr>Contents</vt:lpstr>
      <vt:lpstr>Methodology</vt:lpstr>
      <vt:lpstr>Exploratory Data Analysis (EDA)</vt:lpstr>
      <vt:lpstr>Exploratory Data Analysis (EDA)</vt:lpstr>
      <vt:lpstr>Exploratory Data Analysis (EDA)</vt:lpstr>
      <vt:lpstr>Exploratory Data Analysis (EDA)</vt:lpstr>
      <vt:lpstr>Data Cleaning &amp; Preprocessing</vt:lpstr>
      <vt:lpstr>Model Training &amp; Selection</vt:lpstr>
      <vt:lpstr>Model Training &amp; Selection</vt:lpstr>
      <vt:lpstr>Evaluation &amp; Results</vt:lpstr>
      <vt:lpstr>Contents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Stelios Katsoulakis</cp:lastModifiedBy>
  <cp:revision>517</cp:revision>
  <dcterms:created xsi:type="dcterms:W3CDTF">2026-01-17T14:17:34Z</dcterms:created>
  <dcterms:modified xsi:type="dcterms:W3CDTF">2026-01-22T18:54:31Z</dcterms:modified>
</cp:coreProperties>
</file>